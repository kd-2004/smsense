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65" r:id="rId11"/>
    <p:sldId id="266" r:id="rId12"/>
    <p:sldId id="268" r:id="rId13"/>
    <p:sldId id="269" r:id="rId14"/>
    <p:sldId id="271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1B404D-A79F-492B-8DF8-31683C612D91}" v="14" dt="2026-08-22T00:14:15.2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3" d="100"/>
          <a:sy n="73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5136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333A4-EB21-EFF8-CC5E-C6E4486F0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B72590-283C-5249-917E-35CE64E554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791F6A-37B1-E828-1F29-9D24CECFF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FF95B-9A5E-EA69-C573-36CF448CB0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432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title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2700"/>
            <a:ext cx="1219169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1D954D-778F-2DEF-1524-E07393E69FBD}"/>
              </a:ext>
            </a:extLst>
          </p:cNvPr>
          <p:cNvSpPr txBox="1"/>
          <p:nvPr/>
        </p:nvSpPr>
        <p:spPr>
          <a:xfrm>
            <a:off x="3047847" y="460592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 →  PROVE  →  EXPLAIN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">
            <a:extLst>
              <a:ext uri="{FF2B5EF4-FFF2-40B4-BE49-F238E27FC236}">
                <a16:creationId xmlns:a16="http://schemas.microsoft.com/office/drawing/2014/main" id="{F7D80E26-0874-3667-3E86-B819B94E4226}"/>
              </a:ext>
            </a:extLst>
          </p:cNvPr>
          <p:cNvSpPr/>
          <p:nvPr/>
        </p:nvSpPr>
        <p:spPr>
          <a:xfrm>
            <a:off x="6565900" y="1188720"/>
            <a:ext cx="5031740" cy="5029200"/>
          </a:xfrm>
          <a:prstGeom prst="roundRect">
            <a:avLst>
              <a:gd name="adj" fmla="val 2500"/>
            </a:avLst>
          </a:prstGeom>
          <a:solidFill>
            <a:srgbClr val="141414"/>
          </a:solidFill>
          <a:ln/>
          <a:effectLst>
            <a:outerShdw blurRad="101600" dist="508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CONTEXT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362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031740" cy="5029200"/>
          </a:xfrm>
          <a:prstGeom prst="roundRect">
            <a:avLst>
              <a:gd name="adj" fmla="val 2500"/>
            </a:avLst>
          </a:prstGeom>
          <a:solidFill>
            <a:srgbClr val="141414"/>
          </a:solidFill>
          <a:ln/>
          <a:effectLst>
            <a:outerShdw blurRad="101600" dist="508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031740" cy="45720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ATTACKERS 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Hinglish Camouflage – Mix Hindi + English to evade static NLP filters </a:t>
            </a:r>
            <a:endParaRPr lang="en-US" sz="1300" b="1" dirty="0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and threats – Manufacture artificial panic</a:t>
            </a:r>
            <a:endParaRPr lang="en-US" sz="1300" b="1" dirty="0"/>
          </a:p>
        </p:txBody>
      </p:sp>
      <p:sp>
        <p:nvSpPr>
          <p:cNvPr id="10" name="Text 8"/>
          <p:cNvSpPr/>
          <p:nvPr/>
        </p:nvSpPr>
        <p:spPr>
          <a:xfrm>
            <a:off x="594360" y="3291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Spoofing - </a:t>
            </a: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Impersonate banks / services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Adversarial Evasion – Use zero-width spaces and typos</a:t>
            </a:r>
            <a:endParaRPr lang="en-US" sz="1300" b="1" dirty="0"/>
          </a:p>
        </p:txBody>
      </p:sp>
      <p:sp>
        <p:nvSpPr>
          <p:cNvPr id="12" name="Text 10"/>
          <p:cNvSpPr/>
          <p:nvPr/>
        </p:nvSpPr>
        <p:spPr>
          <a:xfrm>
            <a:off x="594360" y="4572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Deceptive Link</a:t>
            </a:r>
            <a:endParaRPr lang="en-US" sz="1300" b="1" dirty="0"/>
          </a:p>
        </p:txBody>
      </p:sp>
      <p:sp>
        <p:nvSpPr>
          <p:cNvPr id="22" name="Shape 20"/>
          <p:cNvSpPr/>
          <p:nvPr/>
        </p:nvSpPr>
        <p:spPr>
          <a:xfrm>
            <a:off x="6578600" y="1216152"/>
            <a:ext cx="5019040" cy="45719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66560" y="136550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1983739"/>
            <a:ext cx="439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Vernacular Intelligence – Decipher code-mixed scripts and regional slang nuances natively.</a:t>
            </a:r>
            <a:endParaRPr lang="en-US" sz="1300" b="1" dirty="0"/>
          </a:p>
        </p:txBody>
      </p:sp>
      <p:sp>
        <p:nvSpPr>
          <p:cNvPr id="25" name="Text 23"/>
          <p:cNvSpPr/>
          <p:nvPr/>
        </p:nvSpPr>
        <p:spPr>
          <a:xfrm>
            <a:off x="6858000" y="2733041"/>
            <a:ext cx="439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Raw evidence Chain – Preserve pristine, un-normalized raw text for forensic integrity.</a:t>
            </a:r>
            <a:endParaRPr lang="en-US" sz="1300" b="1" dirty="0"/>
          </a:p>
        </p:txBody>
      </p:sp>
      <p:sp>
        <p:nvSpPr>
          <p:cNvPr id="26" name="Text 24"/>
          <p:cNvSpPr/>
          <p:nvPr/>
        </p:nvSpPr>
        <p:spPr>
          <a:xfrm>
            <a:off x="6858000" y="3387343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multiple signals</a:t>
            </a:r>
            <a:endParaRPr lang="en-US" sz="1300" b="1" dirty="0"/>
          </a:p>
        </p:txBody>
      </p:sp>
      <p:sp>
        <p:nvSpPr>
          <p:cNvPr id="27" name="Text 25"/>
          <p:cNvSpPr/>
          <p:nvPr/>
        </p:nvSpPr>
        <p:spPr>
          <a:xfrm>
            <a:off x="6858000" y="4023360"/>
            <a:ext cx="439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Risk Metrics – Provides clear risk scoring backed by post-hoc reasoning</a:t>
            </a:r>
            <a:endParaRPr lang="en-US" sz="1300" b="1" dirty="0"/>
          </a:p>
        </p:txBody>
      </p:sp>
      <p:sp>
        <p:nvSpPr>
          <p:cNvPr id="28" name="Text 26"/>
          <p:cNvSpPr/>
          <p:nvPr/>
        </p:nvSpPr>
        <p:spPr>
          <a:xfrm>
            <a:off x="6858000" y="4730493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1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audit-ready</a:t>
            </a:r>
            <a:endParaRPr lang="en-US" sz="13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057400" y="2468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Building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828800" cy="54864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sender/header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331720" y="137160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331720" y="1371600"/>
            <a:ext cx="1828800" cy="54864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2316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43400" y="137160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43400" y="1371600"/>
            <a:ext cx="1828800" cy="54864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3484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3484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+ rules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355080" y="137160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55080" y="1371600"/>
            <a:ext cx="1828800" cy="54864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4652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evidence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366760" y="137160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66760" y="1371600"/>
            <a:ext cx="1828800" cy="54864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45820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5820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0–100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0378440" y="137160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378440" y="1371600"/>
            <a:ext cx="1828800" cy="54864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46988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46988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post-hoc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657600"/>
            <a:ext cx="11247120" cy="2377440"/>
          </a:xfrm>
          <a:prstGeom prst="roundRect">
            <a:avLst>
              <a:gd name="adj" fmla="val 3846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1520" y="3886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DEFENSIBLE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score contribution maps to visible evidence. The LLM explains the decision but cannot change it.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DESIGN RULE: RAW TEXT IS NEVER DISCARDED.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MODELS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46304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AI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669280" cy="2011680"/>
          </a:xfrm>
          <a:prstGeom prst="roundRect">
            <a:avLst>
              <a:gd name="adj" fmla="val 4545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91440" cy="2011680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HinSpam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Hinglish spam / scam classifier.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raw SMS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use: code-mixed Roman Hindi.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188720"/>
            <a:ext cx="5669280" cy="2011680"/>
          </a:xfrm>
          <a:prstGeom prst="roundRect">
            <a:avLst>
              <a:gd name="adj" fmla="val 4545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91440" cy="2011680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SilverGuard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19202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Indian SMS scam classifier.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sender/header + raw SMS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use: Indian SMS context.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5669280" cy="2011680"/>
          </a:xfrm>
          <a:prstGeom prst="roundRect">
            <a:avLst>
              <a:gd name="adj" fmla="val 4545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91440" cy="2011680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 8B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42062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LLM used only after scoring: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• summarize • highlight phrases • recommend action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3474720"/>
            <a:ext cx="5669280" cy="2011680"/>
          </a:xfrm>
          <a:prstGeom prst="roundRect">
            <a:avLst>
              <a:gd name="adj" fmla="val 4545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09360" y="3474720"/>
            <a:ext cx="91440" cy="2011680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0" y="3703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 Embedding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0" y="42062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semantic embedding for similarity,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lookup, known scam examples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clustering support.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46304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System Architecture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498305" y="5722033"/>
            <a:ext cx="79893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security decision is ours — through auditable rules.</a:t>
            </a:r>
            <a:endParaRPr lang="en-US" sz="15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90CA048-92FA-75DA-48F3-963D1FBF1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78" y="1059107"/>
            <a:ext cx="11675022" cy="44267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SCORING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46304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Risk Score Works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618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2618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2618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11247120" cy="54864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8470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18470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18470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message look like scam/spam?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11247120" cy="5486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441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24414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24414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sender context look suspicious?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11247120" cy="54864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30358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30358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link add risk?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11247120" cy="5486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630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36301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0" y="36301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message manipulating the user?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224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Obfuscation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0400" y="4224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42245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text trying to evade filters?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709160"/>
            <a:ext cx="11247120" cy="5486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4818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200400" y="48188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0" y="48188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resemble known scam patterns?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hidden AI score. Six bounded evidence groups → transparent 0–100 result.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EVIDENCE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33143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96833"/>
            <a:ext cx="11430000" cy="1797173"/>
          </a:xfrm>
          <a:prstGeom prst="roundRect">
            <a:avLst>
              <a:gd name="adj" fmla="val 7273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41960" y="93491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“Apka acount blck hoga. KYC upd8 kro: https://sbi-example.xyz”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3991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  +91 98xxxxxx12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5943600" cy="2011680"/>
          </a:xfrm>
          <a:prstGeom prst="roundRect">
            <a:avLst>
              <a:gd name="adj" fmla="val 3636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Aapka account block hoga.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update karo…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acount → account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blck → block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upd8 → update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2286000"/>
            <a:ext cx="5669280" cy="2011680"/>
          </a:xfrm>
          <a:prstGeom prst="roundRect">
            <a:avLst>
              <a:gd name="adj" fmla="val 3636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2423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89520" y="2880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0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41280" y="2880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A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0" y="3291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0" y="3291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Obfuscation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89520" y="3703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A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61120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0" y="3703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297679"/>
            <a:ext cx="11430000" cy="2401097"/>
          </a:xfrm>
          <a:prstGeom prst="roundRect">
            <a:avLst>
              <a:gd name="adj" fmla="val 4706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/ CRITICAL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8640" y="5212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72317" y="1255457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XX / 100</a:t>
            </a:r>
            <a:endParaRPr lang="en-US" sz="3600" dirty="0"/>
          </a:p>
          <a:p>
            <a:pPr marL="0" indent="0" algn="r">
              <a:buNone/>
            </a:pP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548640" y="5669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value tuned on validation data.</a:t>
            </a:r>
            <a:endParaRPr lang="en-US" sz="1200" dirty="0"/>
          </a:p>
        </p:txBody>
      </p:sp>
      <p:pic>
        <p:nvPicPr>
          <p:cNvPr id="30" name="Picture 29" descr="Paytm has warning for all users! Says beware of KYC completion, account ...">
            <a:extLst>
              <a:ext uri="{FF2B5EF4-FFF2-40B4-BE49-F238E27FC236}">
                <a16:creationId xmlns:a16="http://schemas.microsoft.com/office/drawing/2014/main" id="{8310DF9A-A0DC-959B-9977-89FC05E37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789" y="1425861"/>
            <a:ext cx="1638741" cy="291446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724C13B-9573-72CA-504C-41BB2F233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0479" y="4554249"/>
            <a:ext cx="8468161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EVASION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46304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Killer Feature — Adversarial Robustness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1430000" cy="6858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1325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update karo warna account block hoga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0" y="12801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11430000" cy="6858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Misspelling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103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updte kro warna accnt blck hoga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0" y="20574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11430000" cy="6858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Leetspeak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2880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upd8 kro warna acc0unt bl0ck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0" y="2834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11430000" cy="6858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657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0" y="3657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K.Y.C upd@te kro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789920" y="36118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65760" y="4251960"/>
            <a:ext cx="11430000" cy="6858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upd8 kr w rna acnt blck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789920" y="43891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65760" y="52120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text + character-aware normalization + semantic similarity + context signals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56692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 beyond exact keyword matching.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7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IMPLEMENTATION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50440" y="2560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Stack &amp; Deployment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30000" cy="1234440"/>
          </a:xfrm>
          <a:prstGeom prst="roundRect">
            <a:avLst>
              <a:gd name="adj" fmla="val 5926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09728" cy="1234440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NLP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HinSpam • SilverGuard • Qwen3 8B • Qwen3 Embedding 0.6B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pretrained. Local inference through Hugging Face / Ollama.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11430000" cy="1234440"/>
          </a:xfrm>
          <a:prstGeom prst="roundRect">
            <a:avLst>
              <a:gd name="adj" fmla="val 5926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109728" cy="1234440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• </a:t>
            </a:r>
            <a:r>
              <a:rPr lang="en-US" sz="13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</a:t>
            </a:r>
            <a:r>
              <a:rPr lang="en-US" sz="13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Uvicorn</a:t>
            </a: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</a:t>
            </a:r>
            <a:r>
              <a:rPr lang="en-US" sz="13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</a:t>
            </a: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</a:t>
            </a:r>
            <a:r>
              <a:rPr lang="en-US" sz="13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Hugging Face Transformers • ONNX Runtime • FAISS • NumPy • SQLite • REST API • Swagger/</a:t>
            </a:r>
            <a:r>
              <a:rPr lang="en-US" sz="13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11430000" cy="1234440"/>
          </a:xfrm>
          <a:prstGeom prst="roundRect">
            <a:avLst>
              <a:gd name="adj" fmla="val 5926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931920"/>
            <a:ext cx="109728" cy="1234440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1148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44805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• CSS3 • Vanilla JavaScript (ES6+) • Fetch API • REST API • DOM API • </a:t>
            </a:r>
            <a:r>
              <a:rPr lang="en-US" sz="1300" dirty="0" err="1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AbortController</a:t>
            </a: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Google Fonts • Inline SVG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54864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  •  No user message needs to be sent to a commercial LLM API for the main pipeline.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UX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46304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Judge-Friendly Dashboard</a:t>
            </a:r>
            <a:endParaRPr lang="en-US" sz="2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B36BB50-13EB-33D2-2611-EF088E16C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3" y="1109767"/>
            <a:ext cx="4549423" cy="252151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D8724E4-B155-DCA4-A07E-269CB5945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001504"/>
            <a:ext cx="11299371" cy="252151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7EA95ED-006B-B9DC-B655-A58BFE5C02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408" y="1109767"/>
            <a:ext cx="7369089" cy="26666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EVALUATION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737360" y="25273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Past Work</a:t>
            </a:r>
          </a:p>
        </p:txBody>
      </p:sp>
      <p:sp>
        <p:nvSpPr>
          <p:cNvPr id="24" name="Shape 22"/>
          <p:cNvSpPr/>
          <p:nvPr/>
        </p:nvSpPr>
        <p:spPr>
          <a:xfrm>
            <a:off x="849954" y="3762869"/>
            <a:ext cx="10491786" cy="2434248"/>
          </a:xfrm>
          <a:prstGeom prst="roundRect">
            <a:avLst>
              <a:gd name="adj" fmla="val 3571"/>
            </a:avLst>
          </a:prstGeom>
          <a:solidFill>
            <a:srgbClr val="141414"/>
          </a:solidFill>
          <a:ln/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&amp; Systems</a:t>
            </a: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PhoneSathi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Hindi + Marathi SMS scam detection + LLM explanation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ScamShield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NeoRakshak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Multilingual (includes Hinglish) multi-signal detection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IndicBERT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-based open-source detectors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Government tools (Sanchar Saathi) → Reporting, not intelligent classification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AD8E388-B338-EFD6-F27A-00CC75161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53" y="843789"/>
            <a:ext cx="10491787" cy="271077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E305AD5-96DA-3501-E33F-79F74ACA3C89}"/>
              </a:ext>
            </a:extLst>
          </p:cNvPr>
          <p:cNvSpPr txBox="1"/>
          <p:nvPr/>
        </p:nvSpPr>
        <p:spPr>
          <a:xfrm>
            <a:off x="558799" y="6396335"/>
            <a:ext cx="11304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Most existing work focuses on classification accuracy. Limited focus on deliberate misspellings + transparent evidence.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89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DIFFERENTIATION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17420" y="24993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SMSense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703320" cy="2011680"/>
          </a:xfrm>
          <a:prstGeom prst="roundRect">
            <a:avLst>
              <a:gd name="adj" fmla="val 4545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703320" cy="7315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VERNACULAR-FIRST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around Hinglish / Roman-script scams, not English-only text.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188720"/>
            <a:ext cx="3703320" cy="2011680"/>
          </a:xfrm>
          <a:prstGeom prst="roundRect">
            <a:avLst>
              <a:gd name="adj" fmla="val 4545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97680" y="1188720"/>
            <a:ext cx="3703320" cy="7315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80560" y="1463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EVASION-AWARE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+ normalized views catch deliberate misspellings and obfuscation.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1188720"/>
            <a:ext cx="3703320" cy="2011680"/>
          </a:xfrm>
          <a:prstGeom prst="roundRect">
            <a:avLst>
              <a:gd name="adj" fmla="val 4545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703320" cy="7315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0" y="1463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evidence groups make every score explainable.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3703320" cy="2011680"/>
          </a:xfrm>
          <a:prstGeom prst="roundRect">
            <a:avLst>
              <a:gd name="adj" fmla="val 4545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474720"/>
            <a:ext cx="3703320" cy="7315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PRETRAINED-ONLY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rushed model training; models are used as proven specialists.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97680" y="3474720"/>
            <a:ext cx="3703320" cy="2011680"/>
          </a:xfrm>
          <a:prstGeom prst="roundRect">
            <a:avLst>
              <a:gd name="adj" fmla="val 4545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97680" y="3474720"/>
            <a:ext cx="3703320" cy="7315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0560" y="3749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&amp; PRACTICAL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80560" y="4343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+ lightweight classifiers + FAISS + SQLite.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0" y="3474720"/>
            <a:ext cx="3703320" cy="2011680"/>
          </a:xfrm>
          <a:prstGeom prst="roundRect">
            <a:avLst>
              <a:gd name="adj" fmla="val 4545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229600" y="3474720"/>
            <a:ext cx="3703320" cy="7315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412480" y="3749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JUDGE-READY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0" y="4343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shows detection, evidence, explanation and adversarial testing.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399" y="0"/>
            <a:ext cx="10332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E2C7633-F163-F70C-FF0C-AD92AE2D8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467820"/>
              </p:ext>
            </p:extLst>
          </p:nvPr>
        </p:nvGraphicFramePr>
        <p:xfrm>
          <a:off x="306" y="1465326"/>
          <a:ext cx="12191694" cy="356314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95847">
                  <a:extLst>
                    <a:ext uri="{9D8B030D-6E8A-4147-A177-3AD203B41FA5}">
                      <a16:colId xmlns:a16="http://schemas.microsoft.com/office/drawing/2014/main" val="3444649929"/>
                    </a:ext>
                  </a:extLst>
                </a:gridCol>
                <a:gridCol w="6095847">
                  <a:extLst>
                    <a:ext uri="{9D8B030D-6E8A-4147-A177-3AD203B41FA5}">
                      <a16:colId xmlns:a16="http://schemas.microsoft.com/office/drawing/2014/main" val="3909950456"/>
                    </a:ext>
                  </a:extLst>
                </a:gridCol>
              </a:tblGrid>
              <a:tr h="6682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Current 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Future Scope</a:t>
                      </a:r>
                    </a:p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537371"/>
                  </a:ext>
                </a:extLst>
              </a:tr>
              <a:tr h="8501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 Hinglish Dataset More diverse Indian-language scam data is needed for broader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Extend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SMSense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 major Indian Multilingual Expansion languages and code-mixed text.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371392"/>
                  </a:ext>
                </a:extLst>
              </a:tr>
              <a:tr h="101527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Evolving Scam Patterns - New scam tactics and obfuscation techniques require continuous 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Continuous Learning - Incorporate user feedback and newly identified scams to improve detection.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317963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 URL Intelligence - Current analysis focuses on URL characteristics rather than live threat reputation.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Real-Time Threat Intelligence - Integrate live URL/domain reputation services for stronger verification.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7321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D41657-75F6-55F7-1D86-2C666B9DF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170C491-0DBE-FA0C-633F-5DC1B653CAF5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49580A-00F3-C15B-A5D0-41699F5473D7}"/>
              </a:ext>
            </a:extLst>
          </p:cNvPr>
          <p:cNvSpPr/>
          <p:nvPr/>
        </p:nvSpPr>
        <p:spPr>
          <a:xfrm>
            <a:off x="914399" y="0"/>
            <a:ext cx="10332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DC626BC-D164-4EBD-4367-04B0F2AFD9E7}"/>
              </a:ext>
            </a:extLst>
          </p:cNvPr>
          <p:cNvSpPr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SMSENSE  •  TRUST LESS, SENSE MORE</a:t>
            </a:r>
            <a:endParaRPr lang="en-US" sz="1800" dirty="0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D6D06E97-3E6C-80C5-8DE7-FFF7D39CB3B8}"/>
              </a:ext>
            </a:extLst>
          </p:cNvPr>
          <p:cNvSpPr/>
          <p:nvPr/>
        </p:nvSpPr>
        <p:spPr>
          <a:xfrm>
            <a:off x="-15089" y="1805940"/>
            <a:ext cx="12191695" cy="2194560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pPr algn="ctr"/>
            <a:endParaRPr lang="en-US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endParaRPr lang="en-US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endParaRPr lang="en-US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Thankyou!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50466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855</Words>
  <Application>Microsoft Office PowerPoint</Application>
  <PresentationFormat>Widescreen</PresentationFormat>
  <Paragraphs>197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BharatPhish Guard - SMSENSE</dc:title>
  <dc:subject>Explainable Vernacular SMS / Smishing Detection</dc:subject>
  <dc:creator>BharatPhish Guard Team</dc:creator>
  <cp:lastModifiedBy>Khile Madhura Arjun [COMPUTER SCIENCE &amp; ENGINEERING - 2025]</cp:lastModifiedBy>
  <cp:revision>13</cp:revision>
  <dcterms:created xsi:type="dcterms:W3CDTF">2026-08-21T22:13:19Z</dcterms:created>
  <dcterms:modified xsi:type="dcterms:W3CDTF">2026-08-22T00:19:07Z</dcterms:modified>
</cp:coreProperties>
</file>